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ormorant Garamond Bold Italics" charset="1" panose="00000800000000000000"/>
      <p:regular r:id="rId23"/>
    </p:embeddedFont>
    <p:embeddedFont>
      <p:font typeface="Quicksand" charset="1" panose="00000000000000000000"/>
      <p:regular r:id="rId24"/>
    </p:embeddedFont>
    <p:embeddedFont>
      <p:font typeface="Quicksand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45040"/>
            <a:ext cx="16229942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Fraud Detection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37210" y="4335512"/>
            <a:ext cx="12812922" cy="1704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 Electricity and Gas Consumption</a:t>
            </a:r>
          </a:p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for STEG, Tunisia.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49752" y="6210443"/>
            <a:ext cx="6988496" cy="217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7"/>
              </a:lnSpc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Rahul George</a:t>
            </a:r>
          </a:p>
          <a:p>
            <a:pPr algn="ctr">
              <a:lnSpc>
                <a:spcPts val="4397"/>
              </a:lnSpc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Otto Schmal</a:t>
            </a:r>
          </a:p>
          <a:p>
            <a:pPr algn="ctr">
              <a:lnSpc>
                <a:spcPts val="4397"/>
              </a:lnSpc>
            </a:pPr>
          </a:p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27 January, 2025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60651" y="0"/>
            <a:ext cx="4627349" cy="10287000"/>
            <a:chOff x="0" y="0"/>
            <a:chExt cx="121872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87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18726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15073" y="1684924"/>
            <a:ext cx="5344227" cy="7573376"/>
            <a:chOff x="0" y="0"/>
            <a:chExt cx="827961" cy="11733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7961" cy="1173314"/>
            </a:xfrm>
            <a:custGeom>
              <a:avLst/>
              <a:gdLst/>
              <a:ahLst/>
              <a:cxnLst/>
              <a:rect r="r" b="b" t="t" l="l"/>
              <a:pathLst>
                <a:path h="1173314" w="827961">
                  <a:moveTo>
                    <a:pt x="33319" y="0"/>
                  </a:moveTo>
                  <a:lnTo>
                    <a:pt x="794642" y="0"/>
                  </a:lnTo>
                  <a:cubicBezTo>
                    <a:pt x="813043" y="0"/>
                    <a:pt x="827961" y="14917"/>
                    <a:pt x="827961" y="33319"/>
                  </a:cubicBezTo>
                  <a:lnTo>
                    <a:pt x="827961" y="1139995"/>
                  </a:lnTo>
                  <a:cubicBezTo>
                    <a:pt x="827961" y="1158397"/>
                    <a:pt x="813043" y="1173314"/>
                    <a:pt x="794642" y="1173314"/>
                  </a:cubicBezTo>
                  <a:lnTo>
                    <a:pt x="33319" y="1173314"/>
                  </a:lnTo>
                  <a:cubicBezTo>
                    <a:pt x="14917" y="1173314"/>
                    <a:pt x="0" y="1158397"/>
                    <a:pt x="0" y="1139995"/>
                  </a:cubicBezTo>
                  <a:lnTo>
                    <a:pt x="0" y="33319"/>
                  </a:lnTo>
                  <a:cubicBezTo>
                    <a:pt x="0" y="14917"/>
                    <a:pt x="14917" y="0"/>
                    <a:pt x="33319" y="0"/>
                  </a:cubicBezTo>
                  <a:close/>
                </a:path>
              </a:pathLst>
            </a:custGeom>
            <a:blipFill>
              <a:blip r:embed="rId2"/>
              <a:stretch>
                <a:fillRect l="-56349" t="0" r="-56349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599709"/>
            <a:ext cx="57028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807886"/>
            <a:ext cx="9923343" cy="7450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813" indent="-284907" lvl="1">
              <a:lnSpc>
                <a:spcPts val="3694"/>
              </a:lnSpc>
              <a:buFont typeface="Arial"/>
              <a:buChar char="•"/>
            </a:pPr>
            <a:r>
              <a:rPr lang="en-US" sz="263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Business Goal</a:t>
            </a:r>
          </a:p>
          <a:p>
            <a:pPr algn="l">
              <a:lnSpc>
                <a:spcPts val="3694"/>
              </a:lnSpc>
            </a:pPr>
          </a:p>
          <a:p>
            <a:pPr algn="l" marL="569813" indent="-284907" lvl="1">
              <a:lnSpc>
                <a:spcPts val="3694"/>
              </a:lnSpc>
              <a:buFont typeface="Arial"/>
              <a:buChar char="•"/>
            </a:pPr>
            <a:r>
              <a:rPr lang="en-US" sz="263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Data Source</a:t>
            </a:r>
          </a:p>
          <a:p>
            <a:pPr algn="l">
              <a:lnSpc>
                <a:spcPts val="3694"/>
              </a:lnSpc>
            </a:pPr>
          </a:p>
          <a:p>
            <a:pPr algn="l" marL="569813" indent="-284907" lvl="1">
              <a:lnSpc>
                <a:spcPts val="3694"/>
              </a:lnSpc>
              <a:buFont typeface="Arial"/>
              <a:buChar char="•"/>
            </a:pPr>
            <a:r>
              <a:rPr lang="en-US" sz="263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EDA </a:t>
            </a:r>
          </a:p>
          <a:p>
            <a:pPr algn="l">
              <a:lnSpc>
                <a:spcPts val="3694"/>
              </a:lnSpc>
            </a:pPr>
          </a:p>
          <a:p>
            <a:pPr algn="l" marL="569813" indent="-284907" lvl="1">
              <a:lnSpc>
                <a:spcPts val="3694"/>
              </a:lnSpc>
              <a:buFont typeface="Arial"/>
              <a:buChar char="•"/>
            </a:pPr>
            <a:r>
              <a:rPr lang="en-US" sz="263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Data Cleaning</a:t>
            </a:r>
          </a:p>
          <a:p>
            <a:pPr algn="l">
              <a:lnSpc>
                <a:spcPts val="3694"/>
              </a:lnSpc>
            </a:pPr>
          </a:p>
          <a:p>
            <a:pPr algn="l" marL="569813" indent="-284907" lvl="1">
              <a:lnSpc>
                <a:spcPts val="3694"/>
              </a:lnSpc>
              <a:buFont typeface="Arial"/>
              <a:buChar char="•"/>
            </a:pPr>
            <a:r>
              <a:rPr lang="en-US" sz="263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Feature Engineering</a:t>
            </a:r>
          </a:p>
          <a:p>
            <a:pPr algn="l">
              <a:lnSpc>
                <a:spcPts val="3694"/>
              </a:lnSpc>
            </a:pPr>
          </a:p>
          <a:p>
            <a:pPr algn="l" marL="569813" indent="-284907" lvl="1">
              <a:lnSpc>
                <a:spcPts val="3694"/>
              </a:lnSpc>
              <a:buFont typeface="Arial"/>
              <a:buChar char="•"/>
            </a:pPr>
            <a:r>
              <a:rPr lang="en-US" sz="263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Base Line Model</a:t>
            </a:r>
          </a:p>
          <a:p>
            <a:pPr algn="l">
              <a:lnSpc>
                <a:spcPts val="3694"/>
              </a:lnSpc>
            </a:pPr>
          </a:p>
          <a:p>
            <a:pPr algn="l" marL="569813" indent="-284907" lvl="1">
              <a:lnSpc>
                <a:spcPts val="3694"/>
              </a:lnSpc>
              <a:buFont typeface="Arial"/>
              <a:buChar char="•"/>
            </a:pPr>
            <a:r>
              <a:rPr lang="en-US" sz="263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Final Model</a:t>
            </a:r>
          </a:p>
          <a:p>
            <a:pPr algn="l">
              <a:lnSpc>
                <a:spcPts val="3694"/>
              </a:lnSpc>
            </a:pPr>
          </a:p>
          <a:p>
            <a:pPr algn="l" marL="569813" indent="-284907" lvl="1">
              <a:lnSpc>
                <a:spcPts val="3694"/>
              </a:lnSpc>
              <a:buFont typeface="Arial"/>
              <a:buChar char="•"/>
            </a:pPr>
            <a:r>
              <a:rPr lang="en-US" sz="263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Future Work</a:t>
            </a:r>
          </a:p>
          <a:p>
            <a:pPr algn="l">
              <a:lnSpc>
                <a:spcPts val="369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84081" y="4753583"/>
            <a:ext cx="12119839" cy="2121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8"/>
              </a:lnSpc>
            </a:pPr>
            <a:r>
              <a:rPr lang="en-US" sz="252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Using the client’s billing history to detect and recognize clients involved in fraudulent activities.</a:t>
            </a:r>
          </a:p>
          <a:p>
            <a:pPr algn="ctr">
              <a:lnSpc>
                <a:spcPts val="4298"/>
              </a:lnSpc>
            </a:pPr>
          </a:p>
          <a:p>
            <a:pPr algn="ctr" marL="0" indent="0" lvl="0">
              <a:lnSpc>
                <a:spcPts val="4298"/>
              </a:lnSpc>
            </a:pPr>
            <a:r>
              <a:rPr lang="en-US" sz="252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600,000 euros loss.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4020158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97880" y="7622194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236864" y="2205782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80481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Business Goal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304001" y="8470711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84081" y="2913393"/>
            <a:ext cx="12119839" cy="496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98"/>
              </a:lnSpc>
            </a:pPr>
            <a:r>
              <a:rPr lang="en-US" b="true" sz="2528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Build a model to identify fraudulent meter usage to reduce revenue loss.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93893" y="15849"/>
            <a:ext cx="4194107" cy="10271151"/>
            <a:chOff x="0" y="0"/>
            <a:chExt cx="1104621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621" cy="2705159"/>
            </a:xfrm>
            <a:custGeom>
              <a:avLst/>
              <a:gdLst/>
              <a:ahLst/>
              <a:cxnLst/>
              <a:rect r="r" b="b" t="t" l="l"/>
              <a:pathLst>
                <a:path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974931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44578" y="3306200"/>
            <a:ext cx="3948737" cy="4373385"/>
          </a:xfrm>
          <a:custGeom>
            <a:avLst/>
            <a:gdLst/>
            <a:ahLst/>
            <a:cxnLst/>
            <a:rect r="r" b="b" t="t" l="l"/>
            <a:pathLst>
              <a:path h="4373385" w="3948737">
                <a:moveTo>
                  <a:pt x="0" y="0"/>
                </a:moveTo>
                <a:lnTo>
                  <a:pt x="3948737" y="0"/>
                </a:lnTo>
                <a:lnTo>
                  <a:pt x="3948737" y="4373385"/>
                </a:lnTo>
                <a:lnTo>
                  <a:pt x="0" y="43733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99709"/>
            <a:ext cx="93902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 Source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545119"/>
            <a:ext cx="8115300" cy="717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 different tables:</a:t>
            </a:r>
          </a:p>
          <a:p>
            <a:pPr algn="l" marL="1036320" indent="-345440" lvl="2">
              <a:lnSpc>
                <a:spcPts val="4079"/>
              </a:lnSpc>
              <a:buFont typeface="Arial"/>
              <a:buChar char="⚬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Client data (demographic and fraud labels)</a:t>
            </a:r>
          </a:p>
          <a:p>
            <a:pPr algn="l" marL="1554480" indent="-388620" lvl="3">
              <a:lnSpc>
                <a:spcPts val="4079"/>
              </a:lnSpc>
              <a:buFont typeface="Arial"/>
              <a:buChar char="￭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135.5K clients</a:t>
            </a:r>
          </a:p>
          <a:p>
            <a:pPr algn="l" marL="1036320" indent="-345440" lvl="2">
              <a:lnSpc>
                <a:spcPts val="4079"/>
              </a:lnSpc>
              <a:buFont typeface="Arial"/>
              <a:buChar char="⚬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Invoice data (invoices from 2005 - 2019)</a:t>
            </a:r>
          </a:p>
          <a:p>
            <a:pPr algn="l" marL="1554480" indent="-388620" lvl="3">
              <a:lnSpc>
                <a:spcPts val="4079"/>
              </a:lnSpc>
              <a:buFont typeface="Arial"/>
              <a:buChar char="￭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+ 4M invoices</a:t>
            </a:r>
          </a:p>
          <a:p>
            <a:pPr algn="l">
              <a:lnSpc>
                <a:spcPts val="4079"/>
              </a:lnSpc>
            </a:pP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b="true" sz="24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Challenges: </a:t>
            </a:r>
          </a:p>
          <a:p>
            <a:pPr algn="l" marL="1036320" indent="-345440" lvl="2">
              <a:lnSpc>
                <a:spcPts val="4079"/>
              </a:lnSpc>
              <a:buFont typeface="Arial"/>
              <a:buChar char="⚬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Imbalanced data </a:t>
            </a:r>
          </a:p>
          <a:p>
            <a:pPr algn="l" marL="1554480" indent="-388620" lvl="3">
              <a:lnSpc>
                <a:spcPts val="4079"/>
              </a:lnSpc>
              <a:buFont typeface="Arial"/>
              <a:buChar char="￭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94% Not Fraud</a:t>
            </a:r>
          </a:p>
          <a:p>
            <a:pPr algn="l" marL="1554480" indent="-388620" lvl="3">
              <a:lnSpc>
                <a:spcPts val="4079"/>
              </a:lnSpc>
              <a:buFont typeface="Arial"/>
              <a:buChar char="￭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6% Fraud</a:t>
            </a:r>
          </a:p>
          <a:p>
            <a:pPr algn="l" marL="1036320" indent="-345440" lvl="2">
              <a:lnSpc>
                <a:spcPts val="4079"/>
              </a:lnSpc>
              <a:buFont typeface="Arial"/>
              <a:buChar char="⚬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arge dataset volume </a:t>
            </a:r>
          </a:p>
          <a:p>
            <a:pPr algn="l">
              <a:lnSpc>
                <a:spcPts val="4079"/>
              </a:lnSpc>
            </a:pPr>
          </a:p>
          <a:p>
            <a:pPr algn="l">
              <a:lnSpc>
                <a:spcPts val="4079"/>
              </a:lnSpc>
            </a:pPr>
          </a:p>
          <a:p>
            <a:pPr algn="l" marL="0" indent="0" lvl="0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84681" y="2878574"/>
            <a:ext cx="11415881" cy="6379726"/>
          </a:xfrm>
          <a:custGeom>
            <a:avLst/>
            <a:gdLst/>
            <a:ahLst/>
            <a:cxnLst/>
            <a:rect r="r" b="b" t="t" l="l"/>
            <a:pathLst>
              <a:path h="6379726" w="11415881">
                <a:moveTo>
                  <a:pt x="0" y="0"/>
                </a:moveTo>
                <a:lnTo>
                  <a:pt x="11415881" y="0"/>
                </a:lnTo>
                <a:lnTo>
                  <a:pt x="11415881" y="6379726"/>
                </a:lnTo>
                <a:lnTo>
                  <a:pt x="0" y="6379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7" t="0" r="-2477" b="-60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99709"/>
            <a:ext cx="1032659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EDA (Exploratory Data analysis)</a:t>
            </a: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34897"/>
            <a:ext cx="162306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Distribution by Client Category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23372" y="2792147"/>
            <a:ext cx="11441256" cy="6421405"/>
          </a:xfrm>
          <a:custGeom>
            <a:avLst/>
            <a:gdLst/>
            <a:ahLst/>
            <a:cxnLst/>
            <a:rect r="r" b="b" t="t" l="l"/>
            <a:pathLst>
              <a:path h="6421405" w="11441256">
                <a:moveTo>
                  <a:pt x="0" y="0"/>
                </a:moveTo>
                <a:lnTo>
                  <a:pt x="11441256" y="0"/>
                </a:lnTo>
                <a:lnTo>
                  <a:pt x="11441256" y="6421405"/>
                </a:lnTo>
                <a:lnTo>
                  <a:pt x="0" y="6421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99709"/>
            <a:ext cx="1032659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EDA (Exploratory Data analysis)</a:t>
            </a: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34897"/>
            <a:ext cx="162306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Fraud Rate by Client Category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35978" y="2874744"/>
            <a:ext cx="11476056" cy="6383556"/>
          </a:xfrm>
          <a:custGeom>
            <a:avLst/>
            <a:gdLst/>
            <a:ahLst/>
            <a:cxnLst/>
            <a:rect r="r" b="b" t="t" l="l"/>
            <a:pathLst>
              <a:path h="6383556" w="11476056">
                <a:moveTo>
                  <a:pt x="0" y="0"/>
                </a:moveTo>
                <a:lnTo>
                  <a:pt x="11476056" y="0"/>
                </a:lnTo>
                <a:lnTo>
                  <a:pt x="11476056" y="6383556"/>
                </a:lnTo>
                <a:lnTo>
                  <a:pt x="0" y="638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99709"/>
            <a:ext cx="1032659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EDA (Exploratory Data analysis)</a:t>
            </a: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34897"/>
            <a:ext cx="162306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Distribution by type of Service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15725" y="2792147"/>
            <a:ext cx="11437500" cy="6650303"/>
          </a:xfrm>
          <a:custGeom>
            <a:avLst/>
            <a:gdLst/>
            <a:ahLst/>
            <a:cxnLst/>
            <a:rect r="r" b="b" t="t" l="l"/>
            <a:pathLst>
              <a:path h="6650303" w="11437500">
                <a:moveTo>
                  <a:pt x="0" y="0"/>
                </a:moveTo>
                <a:lnTo>
                  <a:pt x="11437500" y="0"/>
                </a:lnTo>
                <a:lnTo>
                  <a:pt x="11437500" y="6650303"/>
                </a:lnTo>
                <a:lnTo>
                  <a:pt x="0" y="6650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8" r="0" b="-198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99709"/>
            <a:ext cx="1032659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EDA (Exploratory Data analysis)</a:t>
            </a: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34897"/>
            <a:ext cx="162306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Fraud Rate by type of Service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38622" y="4099272"/>
            <a:ext cx="4210757" cy="3273864"/>
          </a:xfrm>
          <a:custGeom>
            <a:avLst/>
            <a:gdLst/>
            <a:ahLst/>
            <a:cxnLst/>
            <a:rect r="r" b="b" t="t" l="l"/>
            <a:pathLst>
              <a:path h="3273864" w="4210757">
                <a:moveTo>
                  <a:pt x="0" y="0"/>
                </a:moveTo>
                <a:lnTo>
                  <a:pt x="4210756" y="0"/>
                </a:lnTo>
                <a:lnTo>
                  <a:pt x="4210756" y="3273864"/>
                </a:lnTo>
                <a:lnTo>
                  <a:pt x="0" y="3273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205155" y="4941508"/>
            <a:ext cx="4344915" cy="0"/>
          </a:xfrm>
          <a:prstGeom prst="line">
            <a:avLst/>
          </a:prstGeom>
          <a:ln cap="flat" w="57150">
            <a:solidFill>
              <a:srgbClr val="7994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906603" y="6864059"/>
            <a:ext cx="4346753" cy="0"/>
          </a:xfrm>
          <a:prstGeom prst="line">
            <a:avLst/>
          </a:prstGeom>
          <a:ln cap="flat" w="57150">
            <a:solidFill>
              <a:srgbClr val="7994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660540" y="8483796"/>
            <a:ext cx="4716390" cy="0"/>
          </a:xfrm>
          <a:prstGeom prst="line">
            <a:avLst/>
          </a:prstGeom>
          <a:ln cap="flat" w="57150">
            <a:solidFill>
              <a:srgbClr val="7994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 Cleaning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1841" y="2960021"/>
            <a:ext cx="534822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Categorical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11071" y="5229225"/>
            <a:ext cx="5348229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Summarizing the data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SMOTE TOMEK</a:t>
            </a:r>
          </a:p>
          <a:p>
            <a:pPr algn="l" marL="0" indent="0" lvl="0">
              <a:lnSpc>
                <a:spcPts val="36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911071" y="4479228"/>
            <a:ext cx="534822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Entire Training Data 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4384" y="6961849"/>
            <a:ext cx="5352545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00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Aggregate by Mean and Standard Deviation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384" y="6556719"/>
            <a:ext cx="535254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Numerical Data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44478" y="3396553"/>
            <a:ext cx="534822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Aggregate by Mode</a:t>
            </a:r>
          </a:p>
          <a:p>
            <a:pPr algn="r">
              <a:lnSpc>
                <a:spcPts val="4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28238" y="2844132"/>
            <a:ext cx="14031524" cy="5526382"/>
          </a:xfrm>
          <a:custGeom>
            <a:avLst/>
            <a:gdLst/>
            <a:ahLst/>
            <a:cxnLst/>
            <a:rect r="r" b="b" t="t" l="l"/>
            <a:pathLst>
              <a:path h="5526382" w="14031524">
                <a:moveTo>
                  <a:pt x="0" y="0"/>
                </a:moveTo>
                <a:lnTo>
                  <a:pt x="14031524" y="0"/>
                </a:lnTo>
                <a:lnTo>
                  <a:pt x="14031524" y="5526383"/>
                </a:lnTo>
                <a:lnTo>
                  <a:pt x="0" y="5526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SMOTE TOMEK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25228" y="2456695"/>
            <a:ext cx="5385764" cy="6426664"/>
            <a:chOff x="0" y="0"/>
            <a:chExt cx="1418473" cy="16926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8473" cy="1692619"/>
            </a:xfrm>
            <a:custGeom>
              <a:avLst/>
              <a:gdLst/>
              <a:ahLst/>
              <a:cxnLst/>
              <a:rect r="r" b="b" t="t" l="l"/>
              <a:pathLst>
                <a:path h="1692619" w="1418473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80475" y="2456695"/>
            <a:ext cx="5385764" cy="6426664"/>
            <a:chOff x="0" y="0"/>
            <a:chExt cx="1418473" cy="16926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8473" cy="1692619"/>
            </a:xfrm>
            <a:custGeom>
              <a:avLst/>
              <a:gdLst/>
              <a:ahLst/>
              <a:cxnLst/>
              <a:rect r="r" b="b" t="t" l="l"/>
              <a:pathLst>
                <a:path h="1692619" w="1418473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619308"/>
                  </a:lnTo>
                  <a:cubicBezTo>
                    <a:pt x="1418473" y="1638751"/>
                    <a:pt x="1410749" y="1657398"/>
                    <a:pt x="1397000" y="1671147"/>
                  </a:cubicBezTo>
                  <a:cubicBezTo>
                    <a:pt x="1383252" y="1684896"/>
                    <a:pt x="1364605" y="1692619"/>
                    <a:pt x="1345161" y="1692619"/>
                  </a:cubicBezTo>
                  <a:lnTo>
                    <a:pt x="73311" y="1692619"/>
                  </a:lnTo>
                  <a:cubicBezTo>
                    <a:pt x="32823" y="1692619"/>
                    <a:pt x="0" y="1659797"/>
                    <a:pt x="0" y="1619308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A9BEC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898912" y="2794611"/>
            <a:ext cx="2348889" cy="2348889"/>
          </a:xfrm>
          <a:custGeom>
            <a:avLst/>
            <a:gdLst/>
            <a:ahLst/>
            <a:cxnLst/>
            <a:rect r="r" b="b" t="t" l="l"/>
            <a:pathLst>
              <a:path h="2348889" w="2348889">
                <a:moveTo>
                  <a:pt x="0" y="0"/>
                </a:moveTo>
                <a:lnTo>
                  <a:pt x="2348889" y="0"/>
                </a:lnTo>
                <a:lnTo>
                  <a:pt x="2348889" y="2348889"/>
                </a:lnTo>
                <a:lnTo>
                  <a:pt x="0" y="2348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58613" y="3020895"/>
            <a:ext cx="2318994" cy="2348889"/>
          </a:xfrm>
          <a:custGeom>
            <a:avLst/>
            <a:gdLst/>
            <a:ahLst/>
            <a:cxnLst/>
            <a:rect r="r" b="b" t="t" l="l"/>
            <a:pathLst>
              <a:path h="2348889" w="2318994">
                <a:moveTo>
                  <a:pt x="0" y="0"/>
                </a:moveTo>
                <a:lnTo>
                  <a:pt x="2318994" y="0"/>
                </a:lnTo>
                <a:lnTo>
                  <a:pt x="2318994" y="2348889"/>
                </a:lnTo>
                <a:lnTo>
                  <a:pt x="0" y="2348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96286" y="374942"/>
            <a:ext cx="10950120" cy="110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77"/>
              </a:lnSpc>
              <a:spcBef>
                <a:spcPct val="0"/>
              </a:spcBef>
            </a:pPr>
            <a:r>
              <a:rPr lang="en-US" b="true" sz="6484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Feature Engineering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67167" y="5919392"/>
            <a:ext cx="5101887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Bill count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Difference index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Frequency of billing</a:t>
            </a:r>
          </a:p>
          <a:p>
            <a:pPr algn="l">
              <a:lnSpc>
                <a:spcPts val="40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367167" y="5580494"/>
            <a:ext cx="510188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New Features creation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22413" y="6084826"/>
            <a:ext cx="5101887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Categorical features</a:t>
            </a:r>
          </a:p>
          <a:p>
            <a:pPr algn="l" marL="1036320" indent="-345440" lvl="2">
              <a:lnSpc>
                <a:spcPts val="4079"/>
              </a:lnSpc>
              <a:buFont typeface="Arial"/>
              <a:buChar char="⚬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One Hot Encoding (OHE)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Numerical features</a:t>
            </a:r>
          </a:p>
          <a:p>
            <a:pPr algn="l" marL="1036320" indent="-345440" lvl="2">
              <a:lnSpc>
                <a:spcPts val="4079"/>
              </a:lnSpc>
              <a:buFont typeface="Arial"/>
              <a:buChar char="⚬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Standard scaling (If applicable)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22413" y="5580494"/>
            <a:ext cx="510188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Existing features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49761" y="0"/>
            <a:ext cx="9838239" cy="10287000"/>
            <a:chOff x="0" y="0"/>
            <a:chExt cx="259114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1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91141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561512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767060" y="10287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2549719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12,713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( 49% 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34113" y="2549719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12,873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( 51% 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5772543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734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( 49% )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599709"/>
            <a:ext cx="94807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Base Line Model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9580562"/>
            <a:ext cx="8606683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Confusion Matrix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234113" y="5772543"/>
            <a:ext cx="3086100" cy="30861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773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( 51% )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1984104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Not Fraud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34113" y="1984104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Misclasified as Fraud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8925318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Misclasified as Not Fraud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34113" y="8941408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Actual Fraud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261881" y="2549719"/>
            <a:ext cx="7680107" cy="6028884"/>
          </a:xfrm>
          <a:custGeom>
            <a:avLst/>
            <a:gdLst/>
            <a:ahLst/>
            <a:cxnLst/>
            <a:rect r="r" b="b" t="t" l="l"/>
            <a:pathLst>
              <a:path h="6028884" w="7680107">
                <a:moveTo>
                  <a:pt x="0" y="0"/>
                </a:moveTo>
                <a:lnTo>
                  <a:pt x="7680107" y="0"/>
                </a:lnTo>
                <a:lnTo>
                  <a:pt x="7680107" y="6028884"/>
                </a:lnTo>
                <a:lnTo>
                  <a:pt x="0" y="6028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261881" y="8689162"/>
            <a:ext cx="268173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Dummies Classifier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61881" y="9144387"/>
            <a:ext cx="257963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ROC-AUC of 0.505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61881" y="9601587"/>
            <a:ext cx="168101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Recall: 0.515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49761" y="0"/>
            <a:ext cx="9838239" cy="10287000"/>
            <a:chOff x="0" y="0"/>
            <a:chExt cx="259114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1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91141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389551" y="5409831"/>
            <a:ext cx="8606683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Better at catching complex patterns 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Handel larger data set more efficiently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Requires more tuning and computation.</a:t>
            </a:r>
          </a:p>
          <a:p>
            <a:pPr algn="l">
              <a:lnSpc>
                <a:spcPts val="4079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1028700" y="9561512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767060" y="1237567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28700" y="2549719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20,656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( 80.94% 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34113" y="2549719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4,930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( 19.06% 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5772543"/>
            <a:ext cx="3086100" cy="30861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745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( 49.23% 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599709"/>
            <a:ext cx="94807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Final Model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89551" y="2823660"/>
            <a:ext cx="8606683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First Test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Tuning The Model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Optimising the Threshold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ROC-AUC: 0.66</a:t>
            </a:r>
          </a:p>
          <a:p>
            <a:pPr algn="l">
              <a:lnSpc>
                <a:spcPts val="407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389551" y="8020443"/>
            <a:ext cx="8606683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Detects half of the True Fraudulent cases.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19.06 % misclassified as fraud.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89551" y="2353030"/>
            <a:ext cx="8606683" cy="5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5"/>
              </a:lnSpc>
            </a:pPr>
            <a:r>
              <a:rPr lang="en-US" b="true" sz="2638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Clouseau (XGBoost)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89551" y="7510570"/>
            <a:ext cx="8606683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Error analysis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89551" y="4943449"/>
            <a:ext cx="8606683" cy="51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5"/>
              </a:lnSpc>
            </a:pPr>
            <a:r>
              <a:rPr lang="en-US" b="true" sz="2638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Models preformance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9580562"/>
            <a:ext cx="8606683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Confusion Matrix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234113" y="5772543"/>
            <a:ext cx="3086100" cy="30861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768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( 50.22% )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8700" y="1984104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Not Fraud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34113" y="1984104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Misclasified as Fraud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8925318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Misclasified as Not Fraud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34113" y="8941408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Actual Fraud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561512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2549719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20,656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( 80.94% 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234113" y="2549719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4,930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( 19.06% 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772543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745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( 49.23% )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599709"/>
            <a:ext cx="11307952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Comparison for choosing Final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580562"/>
            <a:ext cx="8606683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Confusion Matrix XGBoost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234113" y="5772543"/>
            <a:ext cx="3086100" cy="30861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768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( 50.22% 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1984104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Not Fraud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34113" y="1984104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Misclasified as Fraud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8925318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Misclasified as Not Fraud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34113" y="8941408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Actual Fraud</a:t>
            </a:r>
          </a:p>
        </p:txBody>
      </p:sp>
      <p:sp>
        <p:nvSpPr>
          <p:cNvPr name="AutoShape 21" id="21"/>
          <p:cNvSpPr/>
          <p:nvPr/>
        </p:nvSpPr>
        <p:spPr>
          <a:xfrm>
            <a:off x="9266837" y="9465474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9266837" y="2453681"/>
            <a:ext cx="3086100" cy="308610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12,886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( 50.36 % 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472250" y="2453681"/>
            <a:ext cx="3086100" cy="308610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12,720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( 49.64% 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66837" y="5676504"/>
            <a:ext cx="3086100" cy="308610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293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( 19.36% )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266837" y="9484524"/>
            <a:ext cx="8606683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Confusion Matrix Logistic Regresion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472250" y="5676504"/>
            <a:ext cx="3086100" cy="308610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1,220</a:t>
              </a:r>
            </a:p>
            <a:p>
              <a:pPr algn="ctr">
                <a:lnSpc>
                  <a:spcPts val="4079"/>
                </a:lnSpc>
              </a:pPr>
              <a:r>
                <a:rPr lang="en-US" sz="2400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( 80.64% )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266837" y="1888066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Not Fraud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72250" y="1888066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Misclasified as Fraud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66837" y="8829279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Misclasified as Not Fraud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472250" y="8845370"/>
            <a:ext cx="3086100" cy="40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</a:pPr>
            <a:r>
              <a:rPr lang="en-US" sz="203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Actual Fraud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60651" y="0"/>
            <a:ext cx="4627349" cy="10287000"/>
            <a:chOff x="0" y="0"/>
            <a:chExt cx="121872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87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18726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15073" y="1684924"/>
            <a:ext cx="5344227" cy="7573376"/>
            <a:chOff x="0" y="0"/>
            <a:chExt cx="827961" cy="11733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7961" cy="1173314"/>
            </a:xfrm>
            <a:custGeom>
              <a:avLst/>
              <a:gdLst/>
              <a:ahLst/>
              <a:cxnLst/>
              <a:rect r="r" b="b" t="t" l="l"/>
              <a:pathLst>
                <a:path h="1173314" w="827961">
                  <a:moveTo>
                    <a:pt x="33319" y="0"/>
                  </a:moveTo>
                  <a:lnTo>
                    <a:pt x="794642" y="0"/>
                  </a:lnTo>
                  <a:cubicBezTo>
                    <a:pt x="813043" y="0"/>
                    <a:pt x="827961" y="14917"/>
                    <a:pt x="827961" y="33319"/>
                  </a:cubicBezTo>
                  <a:lnTo>
                    <a:pt x="827961" y="1139995"/>
                  </a:lnTo>
                  <a:cubicBezTo>
                    <a:pt x="827961" y="1158397"/>
                    <a:pt x="813043" y="1173314"/>
                    <a:pt x="794642" y="1173314"/>
                  </a:cubicBezTo>
                  <a:lnTo>
                    <a:pt x="33319" y="1173314"/>
                  </a:lnTo>
                  <a:cubicBezTo>
                    <a:pt x="14917" y="1173314"/>
                    <a:pt x="0" y="1158397"/>
                    <a:pt x="0" y="1139995"/>
                  </a:cubicBezTo>
                  <a:lnTo>
                    <a:pt x="0" y="33319"/>
                  </a:lnTo>
                  <a:cubicBezTo>
                    <a:pt x="0" y="14917"/>
                    <a:pt x="14917" y="0"/>
                    <a:pt x="33319" y="0"/>
                  </a:cubicBezTo>
                  <a:close/>
                </a:path>
              </a:pathLst>
            </a:custGeom>
            <a:blipFill>
              <a:blip r:embed="rId2"/>
              <a:stretch>
                <a:fillRect l="-56349" t="0" r="-56349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599709"/>
            <a:ext cx="57028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Future 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76958"/>
            <a:ext cx="10527757" cy="352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04" indent="-421002" lvl="1">
              <a:lnSpc>
                <a:spcPts val="9749"/>
              </a:lnSpc>
              <a:buFont typeface="Arial"/>
              <a:buChar char="•"/>
            </a:pPr>
            <a:r>
              <a:rPr lang="en-US" b="true" sz="38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Feature selection</a:t>
            </a:r>
          </a:p>
          <a:p>
            <a:pPr algn="l" marL="842004" indent="-421002" lvl="1">
              <a:lnSpc>
                <a:spcPts val="9749"/>
              </a:lnSpc>
              <a:buFont typeface="Arial"/>
              <a:buChar char="•"/>
            </a:pPr>
            <a:r>
              <a:rPr lang="en-US" b="true" sz="38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Stacking </a:t>
            </a:r>
          </a:p>
          <a:p>
            <a:pPr algn="l" marL="842004" indent="-421002" lvl="1">
              <a:lnSpc>
                <a:spcPts val="9749"/>
              </a:lnSpc>
              <a:buFont typeface="Arial"/>
              <a:buChar char="•"/>
            </a:pPr>
            <a:r>
              <a:rPr lang="en-US" b="true" sz="38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Hyper parameters tuning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Questions?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DAGdGsFlrDM</dc:identifier>
  <dcterms:modified xsi:type="dcterms:W3CDTF">2011-08-01T06:04:30Z</dcterms:modified>
  <cp:revision>1</cp:revision>
  <dc:title>Machine Learning</dc:title>
</cp:coreProperties>
</file>